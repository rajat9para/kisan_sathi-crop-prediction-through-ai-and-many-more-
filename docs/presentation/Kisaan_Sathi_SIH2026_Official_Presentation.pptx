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911535" cy="594360"/>
          </a:xfrm>
          <a:prstGeom prst="roundRect">
            <a:avLst/>
          </a:prstGeom>
          <a:solidFill>
            <a:srgbClr val="111C38"/>
          </a:solidFill>
          <a:ln>
            <a:solidFill>
              <a:srgbClr val="2D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SMART INDIA HACKATHON 2026  ·  HARDWARE EDITION  ·  PROBLEM STATEMENT #26180  ·  QUALCOMM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Kisaan Sathi (किसान साथी)</a:t>
            </a:r>
          </a:p>
          <a:p>
            <a:pPr>
              <a:defRPr sz="1900">
                <a:solidFill>
                  <a:srgbClr val="10B981"/>
                </a:solidFill>
                <a:latin typeface="Calibri"/>
              </a:defRPr>
            </a:pPr>
            <a:r>
              <a:t>Field-Deployable Cyber-Physical Node &amp; AI Smart Farming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10911535" cy="685800"/>
          </a:xfrm>
          <a:prstGeom prst="roundRect">
            <a:avLst/>
          </a:prstGeom>
          <a:solidFill>
            <a:srgbClr val="26140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97316"/>
                </a:solidFill>
                <a:latin typeface="Calibri"/>
              </a:defRPr>
            </a:pPr>
            <a:r>
              <a:t>OFFICIAL THEME: DISASTER MANAGEMENT</a:t>
            </a:r>
          </a:p>
          <a:p>
            <a:pPr>
              <a:defRPr sz="1100">
                <a:solidFill>
                  <a:srgbClr val="E2E8F0"/>
                </a:solidFill>
                <a:latin typeface="Calibri"/>
              </a:defRPr>
            </a:pPr>
            <a:r>
              <a:t>Evaluated through the lens of climate hazard resilience: autonomous early detection of drought, flood, heatwave &amp; pest epidemics.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39312"/>
            <a:ext cx="10911535" cy="777240"/>
          </a:xfrm>
          <a:prstGeom prst="roundRect">
            <a:avLst/>
          </a:prstGeom>
          <a:solidFill>
            <a:srgbClr val="0F1E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Calibri"/>
              </a:defRPr>
            </a:pPr>
            <a:r>
              <a:t>THE 10-SECOND EXECUTIVE HOOK: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"A ₹9,850 solar-powered field node that detects crop disease, pest, nutrient and water stress on-device in 32 ms — and keeps warning the farmer when the network is gone."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26280"/>
            <a:ext cx="2587752" cy="1691640"/>
          </a:xfrm>
          <a:prstGeom prst="roundRect">
            <a:avLst/>
          </a:prstGeom>
          <a:solidFill>
            <a:srgbClr val="111C3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₹9,850 Physical Node</a:t>
            </a: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100% commodity off-the-shelf BOM</a:t>
            </a:r>
            <a:br/>
            <a:r>
              <a:t>20W PV + 12V 7Ah VRLA Battery</a:t>
            </a:r>
            <a:br/>
            <a:r>
              <a:t>48-hr zero-sun autonomy · IP65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4526280"/>
            <a:ext cx="2587752" cy="1691640"/>
          </a:xfrm>
          <a:prstGeom prst="roundRect">
            <a:avLst/>
          </a:prstGeom>
          <a:solidFill>
            <a:srgbClr val="111C38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200" b="1">
                <a:solidFill>
                  <a:srgbClr val="A855F7"/>
                </a:solidFill>
                <a:latin typeface="Calibri"/>
              </a:defRPr>
            </a:pPr>
            <a:r>
              <a:t>32.4 ms Edge AI</a:t>
            </a: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MobileNetV2 INT8 on Cortex-A72</a:t>
            </a:r>
            <a:br/>
            <a:r>
              <a:t>7 CNN classes @ 95.87% val acc</a:t>
            </a:r>
            <a:br/>
            <a:r>
              <a:t>16 ICAR guidance · 5 ETL pests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4526280"/>
            <a:ext cx="2587752" cy="1691640"/>
          </a:xfrm>
          <a:prstGeom prst="roundRect">
            <a:avLst/>
          </a:prstGeom>
          <a:solidFill>
            <a:srgbClr val="111C38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200" b="1">
                <a:solidFill>
                  <a:srgbClr val="F97316"/>
                </a:solidFill>
                <a:latin typeface="Calibri"/>
              </a:defRPr>
            </a:pPr>
            <a:r>
              <a:t>Disaster Resilience</a:t>
            </a: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Drought, flood &amp; heatwave indices</a:t>
            </a:r>
            <a:br/>
            <a:r>
              <a:t>FAO-56 Hargreaves ETc water balance</a:t>
            </a:r>
            <a:br/>
            <a:r>
              <a:t>Pre-emptive pump control &amp;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51976" y="4526280"/>
            <a:ext cx="2587752" cy="1691640"/>
          </a:xfrm>
          <a:prstGeom prst="roundRect">
            <a:avLst/>
          </a:prstGeom>
          <a:solidFill>
            <a:srgbClr val="111C3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200" b="1">
                <a:solidFill>
                  <a:srgbClr val="38BDF8"/>
                </a:solidFill>
                <a:latin typeface="Calibri"/>
              </a:defRPr>
            </a:pPr>
            <a:r>
              <a:t>Offline Fail-Safe</a:t>
            </a: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SIM800L Devanagari SMS fallback</a:t>
            </a:r>
            <a:br/>
            <a:r>
              <a:t>LoRa 868 MHz village mesh</a:t>
            </a:r>
            <a:br/>
            <a:r>
              <a:t>Opto active-LOW relay + HW watchdog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27648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Calibri"/>
              </a:defRPr>
            </a:pPr>
            <a:r>
              <a:t>Team TechBuilders  ·  Autonomous Edge Cyber-Physical System  ·  SIH 2026 Grand Finale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solidFill>
            <a:srgbClr val="111C38"/>
          </a:solidFill>
          <a:ln>
            <a:solidFill>
              <a:srgbClr val="2D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132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Proposed Solution &amp; Problem Statement Alignment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End-to-End Cyber-Physical Architecture mapped directly to Qualcomm PS #26180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475488"/>
            <a:ext cx="2194560" cy="411480"/>
          </a:xfrm>
          <a:prstGeom prst="roundRect">
            <a:avLst/>
          </a:prstGeom>
          <a:solidFill>
            <a:srgbClr val="28140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97316"/>
                </a:solidFill>
                <a:latin typeface="Calibri"/>
              </a:defRPr>
            </a:pPr>
            <a:r>
              <a:t>THEME: DISASTER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75488"/>
            <a:ext cx="1371600" cy="411480"/>
          </a:xfrm>
          <a:prstGeom prst="roundRect">
            <a:avLst/>
          </a:prstGeom>
          <a:solidFill>
            <a:srgbClr val="0C233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Calibri"/>
              </a:defRPr>
            </a:pPr>
            <a:r>
              <a:t>QUALCOMM · PS 26180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120640" cy="2926080"/>
          </a:xfrm>
          <a:prstGeom prst="roundRect">
            <a:avLst/>
          </a:prstGeom>
          <a:solidFill>
            <a:srgbClr val="111C38"/>
          </a:solidFill>
          <a:ln>
            <a:solidFill>
              <a:srgbClr val="2D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28016"/>
          <a:lstStyle/>
          <a:p>
            <a:pPr algn="ctr">
              <a:defRPr sz="1200" b="1">
                <a:solidFill>
                  <a:srgbClr val="38BDF8"/>
                </a:solidFill>
                <a:latin typeface="Calibri"/>
              </a:defRPr>
            </a:pPr>
            <a:r>
              <a:t>1. Detailed Solution Architecture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Edge Sensing: Capacitive soil moisture via 16-bit ADS1115 ADC, DHT22 (temp/humidity), FC-37 rain plate, Pi Camera V2. 3-min duty cycle recorded to SQLite.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Leaf Pathology: MobileNetV2 INT8 ONNX (32.4 ms on Cortex-A72). 7 verified CNN classes at 95.87% val acc; 16 unverified crops routed to verified ICAR symptom guidance.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Nutrient Analysis: NPK/pH sensing + Soil Health Card OCR mapped to XGBoost + SHAP explaining nutrient deficiency magnitude in 11 Indian languages.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Water Balance: FAO-56 Hargreaves ET₀ from local Tmax/Tmin, crop Kc curve, soil-water deficit converted to litres and exact pump runtime.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Disaster Hazards: Drought, flood, heatwave &amp; outbreak indices (0–100) combining local telemetry and Open-Meteo ECMWF forecasts.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Degrading Delivery: Web/Flutter Dashboard → SIM800L Devanagari SMS → LoRa 868 MHz village mesh → Local buzzer/pump actuation when isolated.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5120640" cy="2148840"/>
          </a:xfrm>
          <a:prstGeom prst="roundRect">
            <a:avLst/>
          </a:prstGeom>
          <a:solidFill>
            <a:srgbClr val="111C38"/>
          </a:solidFill>
          <a:ln>
            <a:solidFill>
              <a:srgbClr val="2D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28016"/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2. Innovation &amp; Key Differentiators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Acts, not just advises: Decision terminates at optocoupled relay closing on 12V pump with 15-min HW watchdog and rain lockout.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Explainability reaches farmer: SHAP attribution translated into spoken native audio in 11 languages with local KVK agronomist contact.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Declared capability boundary: Where unverified, returns confidence: null + ICAR guidance instead of fabricated neural hallucination.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₹9,850 Offline-Native: Engineered for marginal smallholders with zero cloud dependence and 48h zero-sun battery autonomy.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234440"/>
            <a:ext cx="5608015" cy="5212080"/>
          </a:xfrm>
          <a:prstGeom prst="roundRect">
            <a:avLst/>
          </a:prstGeom>
          <a:solidFill>
            <a:srgbClr val="111C38"/>
          </a:solidFill>
          <a:ln>
            <a:solidFill>
              <a:srgbClr val="2D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298448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Calibri"/>
              </a:defRPr>
            </a:pPr>
            <a:r>
              <a:t>Problem Statement Alignment Matrix (PS #26180)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691640"/>
          <a:ext cx="542513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331720"/>
                <a:gridCol w="1401775"/>
              </a:tblGrid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PS Requirement</a:t>
                      </a:r>
                    </a:p>
                  </a:txBody>
                  <a:tcPr>
                    <a:solidFill>
                      <a:srgbClr val="19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Implementation Mechanism</a:t>
                      </a:r>
                    </a:p>
                  </a:txBody>
                  <a:tcPr>
                    <a:solidFill>
                      <a:srgbClr val="192D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Evidenced Metric</a:t>
                      </a:r>
                    </a:p>
                  </a:txBody>
                  <a:tcPr>
                    <a:solidFill>
                      <a:srgbClr val="192D5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Detect crop diseases early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MobileNetV2 INT8 on leaf imagery on RPi Cortex-A72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32.4 ms / 95.87% val acc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Detect pests early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ETL-threshold advisory with bio/chemical dosing per ICAR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5 Major Indian Pests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Detect nutrient deficiencies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NPK/pH sensing + Soil Health Card OCR → XGBoost + SHAP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7 Features · 11 Languages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Detect irrigation needs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FAO-56 Hargreaves ETc water balance → relay pump control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Liters/m² → Pump sec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Disaster resilience (drought, flood, heatwave)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 graded hazard indices (0–100) with pre-emptive actions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Sensor + ECMWF Forecast</a:t>
                      </a:r>
                    </a:p>
                  </a:txBody>
                  <a:tcPr>
                    <a:solidFill>
                      <a:srgbClr val="121E3A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Real-time on-device intelligence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Full closed loop executes on Raspberry Pi with 0 cloud dependency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 Offline Autonomous</a:t>
                      </a:r>
                    </a:p>
                  </a:txBody>
                  <a:tcPr>
                    <a:solidFill>
                      <a:srgbClr val="0E18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solidFill>
            <a:srgbClr val="111C38"/>
          </a:solidFill>
          <a:ln>
            <a:solidFill>
              <a:srgbClr val="2D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132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Technical Approach &amp; System Architecture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Hardware wiring, 4 local AI inference engines, cyber-physical actuation, and telemetry fail-safes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475488"/>
            <a:ext cx="2194560" cy="411480"/>
          </a:xfrm>
          <a:prstGeom prst="roundRect">
            <a:avLst/>
          </a:prstGeom>
          <a:solidFill>
            <a:srgbClr val="28140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97316"/>
                </a:solidFill>
                <a:latin typeface="Calibri"/>
              </a:defRPr>
            </a:pPr>
            <a:r>
              <a:t>THEME: DISASTER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75488"/>
            <a:ext cx="1371600" cy="411480"/>
          </a:xfrm>
          <a:prstGeom prst="roundRect">
            <a:avLst/>
          </a:prstGeom>
          <a:solidFill>
            <a:srgbClr val="0C233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Calibri"/>
              </a:defRPr>
            </a:pPr>
            <a:r>
              <a:t>QUALCOMM · PS 26180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10911535" cy="1097280"/>
          </a:xfrm>
          <a:prstGeom prst="roundRect">
            <a:avLst/>
          </a:prstGeom>
          <a:solidFill>
            <a:srgbClr val="111C38"/>
          </a:solidFill>
          <a:ln>
            <a:solidFill>
              <a:srgbClr val="2D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09728"/>
          <a:lstStyle/>
          <a:p>
            <a:pPr algn="ctr">
              <a:defRPr sz="919">
                <a:solidFill>
                  <a:srgbClr val="38BDF8"/>
                </a:solidFill>
                <a:latin typeface="Calibri"/>
              </a:defRPr>
            </a:pPr>
            <a:r>
              <a:t>Hardware: Raspberry Pi 4B (4 GB) · Pi Camera V2 · Capacitive soil probe · ADS1115 16-bit ADC · DHT22 · FC-37 rain plate · 5V opto relay → 12V R385 pump · SIM800L GSM · RYLR896 LoRa 868 MHz · 20W PV + 12V 7Ah VRLA</a:t>
            </a:r>
          </a:p>
          <a:p>
            <a:pPr>
              <a:defRPr sz="919">
                <a:solidFill>
                  <a:srgbClr val="A855F7"/>
                </a:solidFill>
                <a:latin typeface="Calibri"/>
              </a:defRPr>
            </a:pPr>
            <a:r>
              <a:t>Edge AI: PyTorch → ONNX Runtime INT8 · MobileNetV2 (32.4 ms) · OpenCV · XGBoost · SHAP TreeExplainer · scikit-learn</a:t>
            </a:r>
          </a:p>
          <a:p>
            <a:pPr>
              <a:defRPr sz="919">
                <a:solidFill>
                  <a:srgbClr val="10B981"/>
                </a:solidFill>
                <a:latin typeface="Calibri"/>
              </a:defRPr>
            </a:pPr>
            <a:r>
              <a:t>Agronomy: FAO-56 Hargreaves ET₀ · crop coefficient Kc · soil-water deficit · ICAR / TNAU / PAU extension guidelines</a:t>
            </a:r>
          </a:p>
          <a:p>
            <a:pPr>
              <a:defRPr sz="919">
                <a:solidFill>
                  <a:srgbClr val="E2E8F0"/>
                </a:solidFill>
                <a:latin typeface="Calibri"/>
              </a:defRPr>
            </a:pPr>
            <a:r>
              <a:t>Software &amp; Cloud: FastAPI · SQLite (edge) · Supabase PostgreSQL (cloud) · Flutter · PWA · systemd · SoilGrids v2 · Open-Meteo · Sentinel-2 · Agmarknet</a:t>
            </a:r>
          </a:p>
        </p:txBody>
      </p:sp>
      <p:pic>
        <p:nvPicPr>
          <p:cNvPr id="8" name="Picture 7" descr="D1_hardware_block_diagram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23160"/>
            <a:ext cx="5349240" cy="3566160"/>
          </a:xfrm>
          <a:prstGeom prst="rect">
            <a:avLst/>
          </a:prstGeom>
        </p:spPr>
      </p:pic>
      <p:pic>
        <p:nvPicPr>
          <p:cNvPr id="9" name="Picture 8" descr="D2_edge_decision_loop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423160"/>
            <a:ext cx="5349240" cy="3566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6080760"/>
            <a:ext cx="10911535" cy="457200"/>
          </a:xfrm>
          <a:prstGeom prst="roundRect">
            <a:avLst/>
          </a:prstGeom>
          <a:solidFill>
            <a:srgbClr val="0F172A"/>
          </a:solidFill>
          <a:ln>
            <a:solidFill>
              <a:srgbClr val="2D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  <a:latin typeface="Calibri"/>
              </a:defRPr>
            </a:pPr>
            <a:r>
              <a:t>TOTAL NODE COST: ₹9,850 (~$118)  ·  POWER DRAW: 59.5 Wh/day  ·  48-HR ZERO-SUN AUTONOMY  ·  IP65 ENCLOSURE (-10°C to +60°C)  ·  GPIO 17 RELAY / GPIO 27 RAIN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solidFill>
            <a:srgbClr val="111C38"/>
          </a:solidFill>
          <a:ln>
            <a:solidFill>
              <a:srgbClr val="2D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132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Feasibility, Viability &amp; Risk Mitigation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Demonstrated hardware-software readiness, identified failure modes, and defence-in-depth safeguards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475488"/>
            <a:ext cx="2194560" cy="411480"/>
          </a:xfrm>
          <a:prstGeom prst="roundRect">
            <a:avLst/>
          </a:prstGeom>
          <a:solidFill>
            <a:srgbClr val="28140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97316"/>
                </a:solidFill>
                <a:latin typeface="Calibri"/>
              </a:defRPr>
            </a:pPr>
            <a:r>
              <a:t>THEME: DISASTER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75488"/>
            <a:ext cx="1371600" cy="411480"/>
          </a:xfrm>
          <a:prstGeom prst="roundRect">
            <a:avLst/>
          </a:prstGeom>
          <a:solidFill>
            <a:srgbClr val="0C233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Calibri"/>
              </a:defRPr>
            </a:pPr>
            <a:r>
              <a:t>QUALCOMM · PS 26180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74720" cy="5257800"/>
          </a:xfrm>
          <a:prstGeom prst="roundRect">
            <a:avLst/>
          </a:prstGeom>
          <a:solidFill>
            <a:srgbClr val="111C3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1. Feasibility &amp; Readiness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Built, Not Proposed: Runs today as an autonomous systemd service (kisan-edge.service); 32.4 ms benchmark, confusion matrices and BOM are committed repository artefacts.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Commodity Supply Chain: All 12 BOM items sourced off-the-shelf from Indian electronics distributors. Zero custom silicon, zero import lead times.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Power Budget Closes: 59.5 Wh/day consumption → 74.4 Wh/day with conversion; 4.0 peak-sun hours requires 18.6 W. 20W PV + 12V 7Ah battery provides 48h zero-sun autonomy.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Latency Closes: 32.4 ms per frame on Pi's Cortex-A72 CPU — zero GPU required, zero cloud round-trip delay.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Team Competence: Python, PyTorch, FastAPI, Flutter in hand; clean GPIO hardware layer under 1,000 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234440"/>
            <a:ext cx="3474720" cy="5257800"/>
          </a:xfrm>
          <a:prstGeom prst="roundRect">
            <a:avLst/>
          </a:prstGeom>
          <a:solidFill>
            <a:srgbClr val="111C38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2. Potential Challenges &amp; Risks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Sensor Drift &amp; Salinity: Capacitive probes drift with soil salinity and temperature; uncalibrated probes produce incorrect irrigation.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Training-Data Gaps: No verified public leaf dataset exists for wheat rust, rice blast, or cotton blight at Indian field quality.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Actuation Hazards: A stuck relay floods fields, depletes groundwater, and burns pump motors.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GSM Network Sunset: SIM800L operates on 2G; 2G sunset is an eventual transition risk in some telecom circles.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Farmer Trust &amp; Literacy: Unexplained instructions from an anonymous plastic box in a field will be rejected by farmers.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Non-Stationary Weather: Static models degrade as climate patterns and pest migration windows shift across seasons.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1234440"/>
            <a:ext cx="3474720" cy="5257800"/>
          </a:xfrm>
          <a:prstGeom prst="roundRect">
            <a:avLst/>
          </a:prstGeom>
          <a:solidFill>
            <a:srgbClr val="111C3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3. Defence-in-Depth Mitigation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Two-Point Calibration: Air-dry and saturated-wet thresholds stored in SQLite; readings outside 1.2–3.0V rejected automatically.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Declared Boundary: Untrained crops return ICAR symptom guidance with confidence: null; field photos queue for model refresh.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Triple Actuation Guard: Opto-isolated active-LOW relay (GPIO 17) + 15-min HW watchdog cutoff + FC-37 rain plate (GPIO 27) physical veto.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Three-Tier Comms Fallback: GSM SMS (Devanagari) → LoRa 868 MHz → Local buzzer/LED. LTE-CAT1 modem is a drop-in UART replacement.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Explainable Voice (11 Langs): Every alert gives physical reason + confidence + direct verified ICAR-KVK scientist contact phone line.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Store-and-Forward Sync: Zero data lost offline; telemetry and diagnostic outcomes sync when backhaul reconnects.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solidFill>
            <a:srgbClr val="111C38"/>
          </a:solidFill>
          <a:ln>
            <a:solidFill>
              <a:srgbClr val="2D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132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Impact, Benefits &amp; Disaster Resilience Engine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Quantifiable agronomic, economic, environmental impact backed by multi-hazard early warning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475488"/>
            <a:ext cx="2194560" cy="411480"/>
          </a:xfrm>
          <a:prstGeom prst="roundRect">
            <a:avLst/>
          </a:prstGeom>
          <a:solidFill>
            <a:srgbClr val="28140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97316"/>
                </a:solidFill>
                <a:latin typeface="Calibri"/>
              </a:defRPr>
            </a:pPr>
            <a:r>
              <a:t>THEME: DISASTER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75488"/>
            <a:ext cx="1371600" cy="411480"/>
          </a:xfrm>
          <a:prstGeom prst="roundRect">
            <a:avLst/>
          </a:prstGeom>
          <a:solidFill>
            <a:srgbClr val="0C233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Calibri"/>
              </a:defRPr>
            </a:pPr>
            <a:r>
              <a:t>QUALCOMM · PS 26180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4846320" cy="2926080"/>
          </a:xfrm>
          <a:prstGeom prst="roundRect">
            <a:avLst/>
          </a:prstGeom>
          <a:solidFill>
            <a:srgbClr val="111C38"/>
          </a:solidFill>
          <a:ln>
            <a:solidFill>
              <a:srgbClr val="2D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1. Target Audience Impact (Marginal Farmers)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Earlier Detection (48h): Blight and rust are treatable in first 48h. 32 ms on-device diagnosis shifts decision from expert visit to instant triage.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Water Applied to Demand: FAO-56 Hargreaves ETc scheduling cuts wasteful fixed-interval flood irrigation by 25–40%.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Hazards Seen Before Arrival: Drought, flood, heatwave &amp; outbreak indices give lead time for pre-emptive irrigation or early spray windows.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Survives Network Blackouts: GSM SMS and LoRa 868 MHz ensure critical disaster warnings reach farmers when cell towers fail.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A Reason, Not an Order: SHAP attribution in 11 Indian languages plus verified ICAR-KVK contact empowers farmer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4846320" cy="2194560"/>
          </a:xfrm>
          <a:prstGeom prst="roundRect">
            <a:avLst/>
          </a:prstGeom>
          <a:solidFill>
            <a:srgbClr val="111C38"/>
          </a:solidFill>
          <a:ln>
            <a:solidFill>
              <a:srgbClr val="2D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2. Multi-Dimensional Benefits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Social: Voice-first advisory in 11 languages; reaches marginal farmers without smartphones or data connectivity.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Economic: Reduces chemical &amp; diesel pump costs; prevents crop loss; ₹9,850 node accessible to FPOs without subsidies.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Environmental: Rain-aware pump scheduling preserves groundwater; targeted spray windows reduce aquifer runoff.</a:t>
            </a:r>
          </a:p>
          <a:p>
            <a:pPr>
              <a:defRPr sz="950">
                <a:solidFill>
                  <a:srgbClr val="E2E8F0"/>
                </a:solidFill>
                <a:latin typeface="Calibri"/>
              </a:defRPr>
            </a:pPr>
            <a:r>
              <a:t>• Technological: Proves quantized CNNs + explainable agronomy run on a ₹4,200 SBC; direct migration path to Qualcomm NPU.</a:t>
            </a:r>
          </a:p>
        </p:txBody>
      </p:sp>
      <p:pic>
        <p:nvPicPr>
          <p:cNvPr id="9" name="Picture 8" descr="D3_disaster_resilience_engin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589788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solidFill>
            <a:srgbClr val="111C38"/>
          </a:solidFill>
          <a:ln>
            <a:solidFill>
              <a:srgbClr val="2D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132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Research, Empirical Evidence &amp; Defense Dossier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Scientific citations, capability boundary, benchmark rigor, and verbatim data honesty commitment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475488"/>
            <a:ext cx="2194560" cy="411480"/>
          </a:xfrm>
          <a:prstGeom prst="roundRect">
            <a:avLst/>
          </a:prstGeom>
          <a:solidFill>
            <a:srgbClr val="28140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97316"/>
                </a:solidFill>
                <a:latin typeface="Calibri"/>
              </a:defRPr>
            </a:pPr>
            <a:r>
              <a:t>THEME: DISASTER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75488"/>
            <a:ext cx="1371600" cy="411480"/>
          </a:xfrm>
          <a:prstGeom prst="roundRect">
            <a:avLst/>
          </a:prstGeom>
          <a:solidFill>
            <a:srgbClr val="0C233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Calibri"/>
              </a:defRPr>
            </a:pPr>
            <a:r>
              <a:t>QUALCOMM · PS 26180</a:t>
            </a:r>
          </a:p>
        </p:txBody>
      </p:sp>
      <p:pic>
        <p:nvPicPr>
          <p:cNvPr id="7" name="Picture 6" descr="D4_validation_and_capability_panel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11535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590288"/>
            <a:ext cx="6035040" cy="1965960"/>
          </a:xfrm>
          <a:prstGeom prst="roundRect">
            <a:avLst/>
          </a:prstGeom>
          <a:solidFill>
            <a:srgbClr val="111C38"/>
          </a:solidFill>
          <a:ln>
            <a:solidFill>
              <a:srgbClr val="2D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Peer-Reviewed Agronomic &amp; Machine Learning Foundations</a:t>
            </a:r>
          </a:p>
          <a:p>
            <a:pPr>
              <a:defRPr sz="880">
                <a:solidFill>
                  <a:srgbClr val="E2E8F0"/>
                </a:solidFill>
                <a:latin typeface="Calibri"/>
              </a:defRPr>
            </a:pPr>
            <a:r>
              <a:t>• FAO Irrigation &amp; Drainage Paper 56 — Allen et al. (1998) [Hargreaves ET₀, Kc water balance]</a:t>
            </a:r>
          </a:p>
          <a:p>
            <a:pPr>
              <a:defRPr sz="880">
                <a:solidFill>
                  <a:srgbClr val="E2E8F0"/>
                </a:solidFill>
                <a:latin typeface="Calibri"/>
              </a:defRPr>
            </a:pPr>
            <a:r>
              <a:t>• PlantVillage — Hughes &amp; Salathé (CC-BY-SA) [4,200 verified images across 7 CNN classes]</a:t>
            </a:r>
          </a:p>
          <a:p>
            <a:pPr>
              <a:defRPr sz="880">
                <a:solidFill>
                  <a:srgbClr val="E2E8F0"/>
                </a:solidFill>
                <a:latin typeface="Calibri"/>
              </a:defRPr>
            </a:pPr>
            <a:r>
              <a:t>• MobileNetV2 — Sandler et al., CVPR 2018 [Inverted Residuals &amp; Linear Bottlenecks]</a:t>
            </a:r>
          </a:p>
          <a:p>
            <a:pPr>
              <a:defRPr sz="880">
                <a:solidFill>
                  <a:srgbClr val="E2E8F0"/>
                </a:solidFill>
                <a:latin typeface="Calibri"/>
              </a:defRPr>
            </a:pPr>
            <a:r>
              <a:t>• SHAP — Lundberg &amp; Lee, NeurIPS 2017 [A Unified Approach to Interpreting Model Predictions]</a:t>
            </a:r>
          </a:p>
          <a:p>
            <a:pPr>
              <a:defRPr sz="880">
                <a:solidFill>
                  <a:srgbClr val="E2E8F0"/>
                </a:solidFill>
                <a:latin typeface="Calibri"/>
              </a:defRPr>
            </a:pPr>
            <a:r>
              <a:t>• ISRIC SoilGrids v2.0 (250m global layers) · Open-Meteo ECMWF (7-day forecast)</a:t>
            </a:r>
          </a:p>
          <a:p>
            <a:pPr>
              <a:defRPr sz="880">
                <a:solidFill>
                  <a:srgbClr val="E2E8F0"/>
                </a:solidFill>
                <a:latin typeface="Calibri"/>
              </a:defRPr>
            </a:pPr>
            <a:r>
              <a:t>• ICAR / TNAU / PAU Extension Guidelines [Symptom triage, ETL thresholds, bio/chemical dosing]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590288"/>
            <a:ext cx="4693615" cy="1965960"/>
          </a:xfrm>
          <a:prstGeom prst="roundRect">
            <a:avLst/>
          </a:prstGeom>
          <a:solidFill>
            <a:srgbClr val="111C3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VERBATIM DATA HONESTY STATEMENT</a:t>
            </a:r>
          </a:p>
          <a:p>
            <a:pPr>
              <a:defRPr sz="950" i="1">
                <a:solidFill>
                  <a:srgbClr val="FFFFFF"/>
                </a:solidFill>
                <a:latin typeface="Calibri"/>
              </a:defRPr>
            </a:pPr>
            <a:r>
              <a:t>"Every API response carries an explicit source field. Where a live feed is unavailable the system degrades to a clearly-labelled cached or estimated value. It never presents simulated data as verified data. Confidence scores are raw softmax outputs — never floored, clamped, or invented."</a:t>
            </a:r>
          </a:p>
          <a:p>
            <a:pPr>
              <a:defRPr sz="900" b="1">
                <a:solidFill>
                  <a:srgbClr val="F59E0B"/>
                </a:solidFill>
                <a:latin typeface="Calibri"/>
              </a:defRPr>
            </a:pPr>
            <a:r>
              <a:t>Core DNA: edge-first (32.4 ms) · offline-first (GSM → LoRa) · closed-loop (sense → decide → pump) · explainable (11 langs) · bounded (declared boundary).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